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6858000" cy="9906000" type="A4"/>
  <p:notesSz cx="6858000" cy="9906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263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0"/>
            <a:ext cx="480060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829300" cy="1104900"/>
          </a:xfrm>
          <a:custGeom>
            <a:avLst/>
            <a:gdLst/>
            <a:ahLst/>
            <a:cxnLst/>
            <a:rect l="l" t="t" r="r" b="b"/>
            <a:pathLst>
              <a:path w="5829300" h="1104900">
                <a:moveTo>
                  <a:pt x="0" y="1104900"/>
                </a:moveTo>
                <a:lnTo>
                  <a:pt x="5829300" y="1104900"/>
                </a:lnTo>
                <a:lnTo>
                  <a:pt x="5829300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829300" cy="1104900"/>
          </a:xfrm>
          <a:custGeom>
            <a:avLst/>
            <a:gdLst/>
            <a:ahLst/>
            <a:cxnLst/>
            <a:rect l="l" t="t" r="r" b="b"/>
            <a:pathLst>
              <a:path w="5829300" h="1104900">
                <a:moveTo>
                  <a:pt x="0" y="1104900"/>
                </a:moveTo>
                <a:lnTo>
                  <a:pt x="5829300" y="1104900"/>
                </a:lnTo>
                <a:lnTo>
                  <a:pt x="5829300" y="0"/>
                </a:lnTo>
              </a:path>
            </a:pathLst>
          </a:custGeom>
          <a:ln w="9144">
            <a:solidFill>
              <a:srgbClr val="8FAA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243" y="42163"/>
            <a:ext cx="4932680" cy="94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9212580"/>
            <a:ext cx="219456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mailto:hossein.shirazi@autuni.ac.n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 l="-41000" r="-4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96F1BA1-E6D7-7296-3CA3-0F02128DD72D}"/>
              </a:ext>
            </a:extLst>
          </p:cNvPr>
          <p:cNvGrpSpPr/>
          <p:nvPr/>
        </p:nvGrpSpPr>
        <p:grpSpPr>
          <a:xfrm>
            <a:off x="-39756" y="0"/>
            <a:ext cx="6897756" cy="1143000"/>
            <a:chOff x="-39756" y="0"/>
            <a:chExt cx="12231756" cy="7788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97C9F44-BF46-2D82-7CC2-0E61C4BAD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5686697" y="-5726453"/>
              <a:ext cx="778850" cy="12231756"/>
            </a:xfrm>
            <a:prstGeom prst="rect">
              <a:avLst/>
            </a:prstGeom>
          </p:spPr>
        </p:pic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D16556C9-C450-B6CF-157C-DD725A8607B5}"/>
                </a:ext>
              </a:extLst>
            </p:cNvPr>
            <p:cNvSpPr txBox="1">
              <a:spLocks/>
            </p:cNvSpPr>
            <p:nvPr/>
          </p:nvSpPr>
          <p:spPr>
            <a:xfrm>
              <a:off x="30743" y="51494"/>
              <a:ext cx="12150897" cy="67586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b="1" kern="1200"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1pPr>
            </a:lstStyle>
            <a:p>
              <a:pPr algn="ctr"/>
              <a:endParaRPr lang="en-NZ" sz="3600" b="1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1019A9C1-2AEA-7538-ABF2-BA2A30FDE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44" y="291926"/>
            <a:ext cx="5487656" cy="615553"/>
          </a:xfrm>
        </p:spPr>
        <p:txBody>
          <a:bodyPr/>
          <a:lstStyle/>
          <a:p>
            <a:pPr algn="ctr"/>
            <a:r>
              <a:rPr lang="en-US" sz="2000" dirty="0"/>
              <a:t>Participants needed to help us advance AI models for smart human sensing</a:t>
            </a: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E6C1203-3C3E-5CDC-C36B-9E13D933992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4957" y="1396425"/>
            <a:ext cx="6610643" cy="584775"/>
          </a:xfrm>
        </p:spPr>
        <p:txBody>
          <a:bodyPr/>
          <a:lstStyle/>
          <a:p>
            <a:pPr algn="ctr"/>
            <a:r>
              <a:rPr lang="en-NZ" b="1" dirty="0">
                <a:latin typeface="Calibri" panose="020F0502020204030204" pitchFamily="34" charset="0"/>
                <a:ea typeface="Times New Roman" panose="02020603050405020304" pitchFamily="18" charset="0"/>
              </a:rPr>
              <a:t>Human Digital Twin Intelligence: Integrating Multimodal AI and Generative Models for Non-Intrusive Health and Activity Monitoring</a:t>
            </a:r>
            <a:endParaRPr 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0E7873D-3421-17E1-2545-80424B4BC476}"/>
              </a:ext>
            </a:extLst>
          </p:cNvPr>
          <p:cNvSpPr txBox="1">
            <a:spLocks/>
          </p:cNvSpPr>
          <p:nvPr/>
        </p:nvSpPr>
        <p:spPr>
          <a:xfrm>
            <a:off x="76200" y="4763869"/>
            <a:ext cx="6680773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Gift voucher for your participation</a:t>
            </a:r>
          </a:p>
          <a:p>
            <a:endParaRPr lang="en-US" b="1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58C73C1E-E29E-374D-2097-AE7A34BD81C8}"/>
              </a:ext>
            </a:extLst>
          </p:cNvPr>
          <p:cNvSpPr txBox="1">
            <a:spLocks/>
          </p:cNvSpPr>
          <p:nvPr/>
        </p:nvSpPr>
        <p:spPr>
          <a:xfrm>
            <a:off x="152400" y="5562600"/>
            <a:ext cx="2346832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tx1"/>
                </a:solidFill>
              </a:rPr>
              <a:t>When</a:t>
            </a:r>
            <a:r>
              <a:rPr lang="en-US" sz="1600" dirty="0">
                <a:solidFill>
                  <a:schemeClr val="tx1"/>
                </a:solidFill>
              </a:rPr>
              <a:t>: Flexible dates/times 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</a:rPr>
              <a:t>Duration: </a:t>
            </a:r>
            <a:r>
              <a:rPr lang="en-US" sz="1600" dirty="0">
                <a:solidFill>
                  <a:schemeClr val="tx1"/>
                </a:solidFill>
              </a:rPr>
              <a:t>1 hour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</a:rPr>
              <a:t>Location: 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AUT WZ Leve 1 Lab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4F58B8A6-A47F-7974-EEE5-B15643ABFB5A}"/>
              </a:ext>
            </a:extLst>
          </p:cNvPr>
          <p:cNvSpPr txBox="1">
            <a:spLocks/>
          </p:cNvSpPr>
          <p:nvPr/>
        </p:nvSpPr>
        <p:spPr>
          <a:xfrm>
            <a:off x="2590800" y="5550694"/>
            <a:ext cx="251460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/>
                </a:solidFill>
              </a:rPr>
              <a:t>To learn more, please contact </a:t>
            </a:r>
          </a:p>
          <a:p>
            <a:pPr algn="l"/>
            <a:r>
              <a:rPr lang="en-NZ" sz="1600" dirty="0">
                <a:solidFill>
                  <a:schemeClr val="tx1"/>
                </a:solidFill>
              </a:rPr>
              <a:t>Mr. Mohammad Shirazi</a:t>
            </a:r>
          </a:p>
          <a:p>
            <a:pPr algn="l"/>
            <a:r>
              <a:rPr lang="en-NZ" sz="1600" b="1" dirty="0">
                <a:solidFill>
                  <a:schemeClr val="tx1"/>
                </a:solidFill>
              </a:rPr>
              <a:t>Mobile</a:t>
            </a:r>
            <a:r>
              <a:rPr lang="en-NZ" sz="1600" dirty="0">
                <a:solidFill>
                  <a:schemeClr val="tx1"/>
                </a:solidFill>
              </a:rPr>
              <a:t>. +64 2902202024</a:t>
            </a:r>
          </a:p>
          <a:p>
            <a:pPr algn="l"/>
            <a:r>
              <a:rPr lang="en-NZ" sz="1600" b="1" dirty="0">
                <a:solidFill>
                  <a:schemeClr val="tx1"/>
                </a:solidFill>
              </a:rPr>
              <a:t>Email</a:t>
            </a:r>
            <a:r>
              <a:rPr lang="en-NZ" sz="1600" dirty="0">
                <a:solidFill>
                  <a:schemeClr val="tx1"/>
                </a:solidFill>
              </a:rPr>
              <a:t>: </a:t>
            </a:r>
            <a:r>
              <a:rPr lang="en-NZ" sz="1600" dirty="0">
                <a:solidFill>
                  <a:schemeClr val="tx1"/>
                </a:solidFill>
                <a:hlinkClick r:id="rId4"/>
              </a:rPr>
              <a:t>hossein.shirazi@autuni.ac.nz</a:t>
            </a:r>
            <a:r>
              <a:rPr lang="en-NZ" sz="16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25" name="object 7">
            <a:extLst>
              <a:ext uri="{FF2B5EF4-FFF2-40B4-BE49-F238E27FC236}">
                <a16:creationId xmlns:a16="http://schemas.microsoft.com/office/drawing/2014/main" id="{3CBC2815-6BCE-BF1B-9F22-AB219185ADC6}"/>
              </a:ext>
            </a:extLst>
          </p:cNvPr>
          <p:cNvGrpSpPr/>
          <p:nvPr/>
        </p:nvGrpSpPr>
        <p:grpSpPr>
          <a:xfrm>
            <a:off x="6083808" y="7530083"/>
            <a:ext cx="768350" cy="2374900"/>
            <a:chOff x="6083808" y="7530083"/>
            <a:chExt cx="768350" cy="2374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2E8A8195-1600-85AD-B1BA-9BCCBBACCE09}"/>
                </a:ext>
              </a:extLst>
            </p:cNvPr>
            <p:cNvSpPr/>
            <p:nvPr/>
          </p:nvSpPr>
          <p:spPr>
            <a:xfrm>
              <a:off x="6083808" y="7530083"/>
              <a:ext cx="768350" cy="2374900"/>
            </a:xfrm>
            <a:custGeom>
              <a:avLst/>
              <a:gdLst/>
              <a:ahLst/>
              <a:cxnLst/>
              <a:rect l="l" t="t" r="r" b="b"/>
              <a:pathLst>
                <a:path w="768350" h="2374900">
                  <a:moveTo>
                    <a:pt x="768095" y="0"/>
                  </a:moveTo>
                  <a:lnTo>
                    <a:pt x="0" y="0"/>
                  </a:lnTo>
                  <a:lnTo>
                    <a:pt x="0" y="2374392"/>
                  </a:lnTo>
                  <a:lnTo>
                    <a:pt x="768095" y="2374392"/>
                  </a:lnTo>
                  <a:lnTo>
                    <a:pt x="76809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41B681C2-D23C-AD88-714E-FE118CE09603}"/>
                </a:ext>
              </a:extLst>
            </p:cNvPr>
            <p:cNvSpPr/>
            <p:nvPr/>
          </p:nvSpPr>
          <p:spPr>
            <a:xfrm>
              <a:off x="6318250" y="8149081"/>
              <a:ext cx="12700" cy="1565275"/>
            </a:xfrm>
            <a:custGeom>
              <a:avLst/>
              <a:gdLst/>
              <a:ahLst/>
              <a:cxnLst/>
              <a:rect l="l" t="t" r="r" b="b"/>
              <a:pathLst>
                <a:path w="12700" h="1565275">
                  <a:moveTo>
                    <a:pt x="12191" y="0"/>
                  </a:moveTo>
                  <a:lnTo>
                    <a:pt x="0" y="0"/>
                  </a:lnTo>
                  <a:lnTo>
                    <a:pt x="0" y="1565097"/>
                  </a:lnTo>
                  <a:lnTo>
                    <a:pt x="12191" y="1565097"/>
                  </a:lnTo>
                  <a:lnTo>
                    <a:pt x="121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18">
            <a:extLst>
              <a:ext uri="{FF2B5EF4-FFF2-40B4-BE49-F238E27FC236}">
                <a16:creationId xmlns:a16="http://schemas.microsoft.com/office/drawing/2014/main" id="{755BBB63-D804-21A5-55C9-24C4D231147A}"/>
              </a:ext>
            </a:extLst>
          </p:cNvPr>
          <p:cNvGrpSpPr/>
          <p:nvPr/>
        </p:nvGrpSpPr>
        <p:grpSpPr>
          <a:xfrm>
            <a:off x="5193791" y="7530083"/>
            <a:ext cx="768350" cy="2374900"/>
            <a:chOff x="5193791" y="7530083"/>
            <a:chExt cx="768350" cy="2374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9" name="object 19">
              <a:extLst>
                <a:ext uri="{FF2B5EF4-FFF2-40B4-BE49-F238E27FC236}">
                  <a16:creationId xmlns:a16="http://schemas.microsoft.com/office/drawing/2014/main" id="{BDB3B379-D817-8E84-0311-FFD60C3187CF}"/>
                </a:ext>
              </a:extLst>
            </p:cNvPr>
            <p:cNvSpPr/>
            <p:nvPr/>
          </p:nvSpPr>
          <p:spPr>
            <a:xfrm>
              <a:off x="5193791" y="7530083"/>
              <a:ext cx="768350" cy="2374900"/>
            </a:xfrm>
            <a:custGeom>
              <a:avLst/>
              <a:gdLst/>
              <a:ahLst/>
              <a:cxnLst/>
              <a:rect l="l" t="t" r="r" b="b"/>
              <a:pathLst>
                <a:path w="768350" h="2374900">
                  <a:moveTo>
                    <a:pt x="768096" y="0"/>
                  </a:moveTo>
                  <a:lnTo>
                    <a:pt x="0" y="0"/>
                  </a:lnTo>
                  <a:lnTo>
                    <a:pt x="0" y="2374392"/>
                  </a:lnTo>
                  <a:lnTo>
                    <a:pt x="768096" y="2374392"/>
                  </a:lnTo>
                  <a:lnTo>
                    <a:pt x="76809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0">
              <a:extLst>
                <a:ext uri="{FF2B5EF4-FFF2-40B4-BE49-F238E27FC236}">
                  <a16:creationId xmlns:a16="http://schemas.microsoft.com/office/drawing/2014/main" id="{CF5C9C14-333D-F1B2-9FF0-046C8290A4F0}"/>
                </a:ext>
              </a:extLst>
            </p:cNvPr>
            <p:cNvSpPr/>
            <p:nvPr/>
          </p:nvSpPr>
          <p:spPr>
            <a:xfrm>
              <a:off x="5428233" y="8149081"/>
              <a:ext cx="12700" cy="1565275"/>
            </a:xfrm>
            <a:custGeom>
              <a:avLst/>
              <a:gdLst/>
              <a:ahLst/>
              <a:cxnLst/>
              <a:rect l="l" t="t" r="r" b="b"/>
              <a:pathLst>
                <a:path w="12700" h="1565275">
                  <a:moveTo>
                    <a:pt x="12191" y="0"/>
                  </a:moveTo>
                  <a:lnTo>
                    <a:pt x="0" y="0"/>
                  </a:lnTo>
                  <a:lnTo>
                    <a:pt x="0" y="1565097"/>
                  </a:lnTo>
                  <a:lnTo>
                    <a:pt x="12191" y="1565097"/>
                  </a:lnTo>
                  <a:lnTo>
                    <a:pt x="121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2">
            <a:extLst>
              <a:ext uri="{FF2B5EF4-FFF2-40B4-BE49-F238E27FC236}">
                <a16:creationId xmlns:a16="http://schemas.microsoft.com/office/drawing/2014/main" id="{E2A15324-51B4-8335-063E-111235E2A422}"/>
              </a:ext>
            </a:extLst>
          </p:cNvPr>
          <p:cNvGrpSpPr/>
          <p:nvPr/>
        </p:nvGrpSpPr>
        <p:grpSpPr>
          <a:xfrm>
            <a:off x="4305300" y="7530083"/>
            <a:ext cx="768350" cy="2374900"/>
            <a:chOff x="4305300" y="7530083"/>
            <a:chExt cx="768350" cy="2374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32" name="object 23">
              <a:extLst>
                <a:ext uri="{FF2B5EF4-FFF2-40B4-BE49-F238E27FC236}">
                  <a16:creationId xmlns:a16="http://schemas.microsoft.com/office/drawing/2014/main" id="{044ABD63-CC39-6531-DAAB-39828EE25D53}"/>
                </a:ext>
              </a:extLst>
            </p:cNvPr>
            <p:cNvSpPr/>
            <p:nvPr/>
          </p:nvSpPr>
          <p:spPr>
            <a:xfrm>
              <a:off x="4305300" y="7530083"/>
              <a:ext cx="768350" cy="2374900"/>
            </a:xfrm>
            <a:custGeom>
              <a:avLst/>
              <a:gdLst/>
              <a:ahLst/>
              <a:cxnLst/>
              <a:rect l="l" t="t" r="r" b="b"/>
              <a:pathLst>
                <a:path w="768350" h="2374900">
                  <a:moveTo>
                    <a:pt x="768096" y="0"/>
                  </a:moveTo>
                  <a:lnTo>
                    <a:pt x="0" y="0"/>
                  </a:lnTo>
                  <a:lnTo>
                    <a:pt x="0" y="2374392"/>
                  </a:lnTo>
                  <a:lnTo>
                    <a:pt x="768096" y="2374392"/>
                  </a:lnTo>
                  <a:lnTo>
                    <a:pt x="76809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4">
              <a:extLst>
                <a:ext uri="{FF2B5EF4-FFF2-40B4-BE49-F238E27FC236}">
                  <a16:creationId xmlns:a16="http://schemas.microsoft.com/office/drawing/2014/main" id="{C59DAC0F-1F51-7604-67E2-4F82A22C077A}"/>
                </a:ext>
              </a:extLst>
            </p:cNvPr>
            <p:cNvSpPr/>
            <p:nvPr/>
          </p:nvSpPr>
          <p:spPr>
            <a:xfrm>
              <a:off x="4540122" y="8149081"/>
              <a:ext cx="12700" cy="1565275"/>
            </a:xfrm>
            <a:custGeom>
              <a:avLst/>
              <a:gdLst/>
              <a:ahLst/>
              <a:cxnLst/>
              <a:rect l="l" t="t" r="r" b="b"/>
              <a:pathLst>
                <a:path w="12700" h="1565275">
                  <a:moveTo>
                    <a:pt x="12191" y="0"/>
                  </a:moveTo>
                  <a:lnTo>
                    <a:pt x="0" y="0"/>
                  </a:lnTo>
                  <a:lnTo>
                    <a:pt x="0" y="1565109"/>
                  </a:lnTo>
                  <a:lnTo>
                    <a:pt x="12191" y="1565109"/>
                  </a:lnTo>
                  <a:lnTo>
                    <a:pt x="121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0">
            <a:extLst>
              <a:ext uri="{FF2B5EF4-FFF2-40B4-BE49-F238E27FC236}">
                <a16:creationId xmlns:a16="http://schemas.microsoft.com/office/drawing/2014/main" id="{4083EDB5-DB8C-A226-774A-A0788EDC2176}"/>
              </a:ext>
            </a:extLst>
          </p:cNvPr>
          <p:cNvGrpSpPr/>
          <p:nvPr/>
        </p:nvGrpSpPr>
        <p:grpSpPr>
          <a:xfrm>
            <a:off x="3418332" y="7530083"/>
            <a:ext cx="768350" cy="2376170"/>
            <a:chOff x="3418332" y="7530083"/>
            <a:chExt cx="768350" cy="237617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38" name="object 31">
              <a:extLst>
                <a:ext uri="{FF2B5EF4-FFF2-40B4-BE49-F238E27FC236}">
                  <a16:creationId xmlns:a16="http://schemas.microsoft.com/office/drawing/2014/main" id="{342F5FF3-7471-F6E6-B82A-749B2F885B4F}"/>
                </a:ext>
              </a:extLst>
            </p:cNvPr>
            <p:cNvSpPr/>
            <p:nvPr/>
          </p:nvSpPr>
          <p:spPr>
            <a:xfrm>
              <a:off x="3418332" y="7530083"/>
              <a:ext cx="768350" cy="2376170"/>
            </a:xfrm>
            <a:custGeom>
              <a:avLst/>
              <a:gdLst/>
              <a:ahLst/>
              <a:cxnLst/>
              <a:rect l="l" t="t" r="r" b="b"/>
              <a:pathLst>
                <a:path w="768350" h="2376170">
                  <a:moveTo>
                    <a:pt x="768096" y="0"/>
                  </a:moveTo>
                  <a:lnTo>
                    <a:pt x="0" y="0"/>
                  </a:lnTo>
                  <a:lnTo>
                    <a:pt x="0" y="2375916"/>
                  </a:lnTo>
                  <a:lnTo>
                    <a:pt x="768096" y="2375916"/>
                  </a:lnTo>
                  <a:lnTo>
                    <a:pt x="76809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2">
              <a:extLst>
                <a:ext uri="{FF2B5EF4-FFF2-40B4-BE49-F238E27FC236}">
                  <a16:creationId xmlns:a16="http://schemas.microsoft.com/office/drawing/2014/main" id="{EE321047-7E29-0800-C3DE-B372AE4A6EF0}"/>
                </a:ext>
              </a:extLst>
            </p:cNvPr>
            <p:cNvSpPr/>
            <p:nvPr/>
          </p:nvSpPr>
          <p:spPr>
            <a:xfrm>
              <a:off x="3652774" y="8149081"/>
              <a:ext cx="12700" cy="1565275"/>
            </a:xfrm>
            <a:custGeom>
              <a:avLst/>
              <a:gdLst/>
              <a:ahLst/>
              <a:cxnLst/>
              <a:rect l="l" t="t" r="r" b="b"/>
              <a:pathLst>
                <a:path w="12700" h="1565275">
                  <a:moveTo>
                    <a:pt x="12191" y="0"/>
                  </a:moveTo>
                  <a:lnTo>
                    <a:pt x="0" y="0"/>
                  </a:lnTo>
                  <a:lnTo>
                    <a:pt x="0" y="1565097"/>
                  </a:lnTo>
                  <a:lnTo>
                    <a:pt x="12191" y="1565097"/>
                  </a:lnTo>
                  <a:lnTo>
                    <a:pt x="121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Subtitle 2">
            <a:extLst>
              <a:ext uri="{FF2B5EF4-FFF2-40B4-BE49-F238E27FC236}">
                <a16:creationId xmlns:a16="http://schemas.microsoft.com/office/drawing/2014/main" id="{68042443-90E4-E90A-191E-56DB27010747}"/>
              </a:ext>
            </a:extLst>
          </p:cNvPr>
          <p:cNvSpPr txBox="1">
            <a:spLocks/>
          </p:cNvSpPr>
          <p:nvPr/>
        </p:nvSpPr>
        <p:spPr>
          <a:xfrm>
            <a:off x="3064259" y="2449830"/>
            <a:ext cx="3565141" cy="1969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study involves wearing smart wearable devices to record body movements and vital signs while performing a set of physical activities. </a:t>
            </a:r>
          </a:p>
          <a:p>
            <a:pPr algn="just"/>
            <a:endParaRPr lang="en-US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data collected will be used to develop multimodal AI for human activity and vital sign analysis and understanding.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64" name="Picture 63" descr="AUT%20LOGO.jpg">
            <a:extLst>
              <a:ext uri="{FF2B5EF4-FFF2-40B4-BE49-F238E27FC236}">
                <a16:creationId xmlns:a16="http://schemas.microsoft.com/office/drawing/2014/main" id="{EE457D68-97F5-B3DF-D7DC-CD5186E1F24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496250" y="114838"/>
            <a:ext cx="1272418" cy="875762"/>
          </a:xfrm>
          <a:prstGeom prst="rect">
            <a:avLst/>
          </a:prstGeom>
        </p:spPr>
      </p:pic>
      <p:grpSp>
        <p:nvGrpSpPr>
          <p:cNvPr id="88" name="object 7">
            <a:extLst>
              <a:ext uri="{FF2B5EF4-FFF2-40B4-BE49-F238E27FC236}">
                <a16:creationId xmlns:a16="http://schemas.microsoft.com/office/drawing/2014/main" id="{EB0AE649-C1DF-CF91-E1B5-96B1E4A6B249}"/>
              </a:ext>
            </a:extLst>
          </p:cNvPr>
          <p:cNvGrpSpPr/>
          <p:nvPr/>
        </p:nvGrpSpPr>
        <p:grpSpPr>
          <a:xfrm>
            <a:off x="2575432" y="7530083"/>
            <a:ext cx="701168" cy="2374900"/>
            <a:chOff x="6083808" y="7530083"/>
            <a:chExt cx="768350" cy="2374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89" name="object 8">
              <a:extLst>
                <a:ext uri="{FF2B5EF4-FFF2-40B4-BE49-F238E27FC236}">
                  <a16:creationId xmlns:a16="http://schemas.microsoft.com/office/drawing/2014/main" id="{940A0B2B-12B5-FFAB-080F-224928A4EB40}"/>
                </a:ext>
              </a:extLst>
            </p:cNvPr>
            <p:cNvSpPr/>
            <p:nvPr/>
          </p:nvSpPr>
          <p:spPr>
            <a:xfrm>
              <a:off x="6083808" y="7530083"/>
              <a:ext cx="768350" cy="2374900"/>
            </a:xfrm>
            <a:custGeom>
              <a:avLst/>
              <a:gdLst/>
              <a:ahLst/>
              <a:cxnLst/>
              <a:rect l="l" t="t" r="r" b="b"/>
              <a:pathLst>
                <a:path w="768350" h="2374900">
                  <a:moveTo>
                    <a:pt x="768095" y="0"/>
                  </a:moveTo>
                  <a:lnTo>
                    <a:pt x="0" y="0"/>
                  </a:lnTo>
                  <a:lnTo>
                    <a:pt x="0" y="2374392"/>
                  </a:lnTo>
                  <a:lnTo>
                    <a:pt x="768095" y="2374392"/>
                  </a:lnTo>
                  <a:lnTo>
                    <a:pt x="76809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">
              <a:extLst>
                <a:ext uri="{FF2B5EF4-FFF2-40B4-BE49-F238E27FC236}">
                  <a16:creationId xmlns:a16="http://schemas.microsoft.com/office/drawing/2014/main" id="{1CCB78C3-97CE-45AA-7DCF-68BD287D64FE}"/>
                </a:ext>
              </a:extLst>
            </p:cNvPr>
            <p:cNvSpPr/>
            <p:nvPr/>
          </p:nvSpPr>
          <p:spPr>
            <a:xfrm>
              <a:off x="6318250" y="8149081"/>
              <a:ext cx="12700" cy="1565275"/>
            </a:xfrm>
            <a:custGeom>
              <a:avLst/>
              <a:gdLst/>
              <a:ahLst/>
              <a:cxnLst/>
              <a:rect l="l" t="t" r="r" b="b"/>
              <a:pathLst>
                <a:path w="12700" h="1565275">
                  <a:moveTo>
                    <a:pt x="12191" y="0"/>
                  </a:moveTo>
                  <a:lnTo>
                    <a:pt x="0" y="0"/>
                  </a:lnTo>
                  <a:lnTo>
                    <a:pt x="0" y="1565097"/>
                  </a:lnTo>
                  <a:lnTo>
                    <a:pt x="12191" y="1565097"/>
                  </a:lnTo>
                  <a:lnTo>
                    <a:pt x="121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18">
            <a:extLst>
              <a:ext uri="{FF2B5EF4-FFF2-40B4-BE49-F238E27FC236}">
                <a16:creationId xmlns:a16="http://schemas.microsoft.com/office/drawing/2014/main" id="{E6EE41D4-4D74-57E8-C439-2C130D7E8221}"/>
              </a:ext>
            </a:extLst>
          </p:cNvPr>
          <p:cNvGrpSpPr/>
          <p:nvPr/>
        </p:nvGrpSpPr>
        <p:grpSpPr>
          <a:xfrm>
            <a:off x="1676400" y="7530083"/>
            <a:ext cx="768350" cy="2374900"/>
            <a:chOff x="5193791" y="7530083"/>
            <a:chExt cx="768350" cy="2374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92" name="object 19">
              <a:extLst>
                <a:ext uri="{FF2B5EF4-FFF2-40B4-BE49-F238E27FC236}">
                  <a16:creationId xmlns:a16="http://schemas.microsoft.com/office/drawing/2014/main" id="{C4467604-83C6-DB10-6800-B983CD00AB9E}"/>
                </a:ext>
              </a:extLst>
            </p:cNvPr>
            <p:cNvSpPr/>
            <p:nvPr/>
          </p:nvSpPr>
          <p:spPr>
            <a:xfrm>
              <a:off x="5193791" y="7530083"/>
              <a:ext cx="768350" cy="2374900"/>
            </a:xfrm>
            <a:custGeom>
              <a:avLst/>
              <a:gdLst/>
              <a:ahLst/>
              <a:cxnLst/>
              <a:rect l="l" t="t" r="r" b="b"/>
              <a:pathLst>
                <a:path w="768350" h="2374900">
                  <a:moveTo>
                    <a:pt x="768096" y="0"/>
                  </a:moveTo>
                  <a:lnTo>
                    <a:pt x="0" y="0"/>
                  </a:lnTo>
                  <a:lnTo>
                    <a:pt x="0" y="2374392"/>
                  </a:lnTo>
                  <a:lnTo>
                    <a:pt x="768096" y="2374392"/>
                  </a:lnTo>
                  <a:lnTo>
                    <a:pt x="76809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20">
              <a:extLst>
                <a:ext uri="{FF2B5EF4-FFF2-40B4-BE49-F238E27FC236}">
                  <a16:creationId xmlns:a16="http://schemas.microsoft.com/office/drawing/2014/main" id="{EDDB2034-67B7-A3E9-3091-E0A770925F62}"/>
                </a:ext>
              </a:extLst>
            </p:cNvPr>
            <p:cNvSpPr/>
            <p:nvPr/>
          </p:nvSpPr>
          <p:spPr>
            <a:xfrm>
              <a:off x="5428233" y="8149081"/>
              <a:ext cx="12700" cy="1565275"/>
            </a:xfrm>
            <a:custGeom>
              <a:avLst/>
              <a:gdLst/>
              <a:ahLst/>
              <a:cxnLst/>
              <a:rect l="l" t="t" r="r" b="b"/>
              <a:pathLst>
                <a:path w="12700" h="1565275">
                  <a:moveTo>
                    <a:pt x="12191" y="0"/>
                  </a:moveTo>
                  <a:lnTo>
                    <a:pt x="0" y="0"/>
                  </a:lnTo>
                  <a:lnTo>
                    <a:pt x="0" y="1565097"/>
                  </a:lnTo>
                  <a:lnTo>
                    <a:pt x="12191" y="1565097"/>
                  </a:lnTo>
                  <a:lnTo>
                    <a:pt x="121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22">
            <a:extLst>
              <a:ext uri="{FF2B5EF4-FFF2-40B4-BE49-F238E27FC236}">
                <a16:creationId xmlns:a16="http://schemas.microsoft.com/office/drawing/2014/main" id="{3860DC38-85DF-BFAE-9C2B-C20B05969058}"/>
              </a:ext>
            </a:extLst>
          </p:cNvPr>
          <p:cNvGrpSpPr/>
          <p:nvPr/>
        </p:nvGrpSpPr>
        <p:grpSpPr>
          <a:xfrm>
            <a:off x="838200" y="7530083"/>
            <a:ext cx="744409" cy="2374900"/>
            <a:chOff x="4305300" y="7530083"/>
            <a:chExt cx="768350" cy="23749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95" name="object 23">
              <a:extLst>
                <a:ext uri="{FF2B5EF4-FFF2-40B4-BE49-F238E27FC236}">
                  <a16:creationId xmlns:a16="http://schemas.microsoft.com/office/drawing/2014/main" id="{27240E06-1979-7877-E02B-B8C01F69A30A}"/>
                </a:ext>
              </a:extLst>
            </p:cNvPr>
            <p:cNvSpPr/>
            <p:nvPr/>
          </p:nvSpPr>
          <p:spPr>
            <a:xfrm>
              <a:off x="4305300" y="7530083"/>
              <a:ext cx="768350" cy="2374900"/>
            </a:xfrm>
            <a:custGeom>
              <a:avLst/>
              <a:gdLst/>
              <a:ahLst/>
              <a:cxnLst/>
              <a:rect l="l" t="t" r="r" b="b"/>
              <a:pathLst>
                <a:path w="768350" h="2374900">
                  <a:moveTo>
                    <a:pt x="768096" y="0"/>
                  </a:moveTo>
                  <a:lnTo>
                    <a:pt x="0" y="0"/>
                  </a:lnTo>
                  <a:lnTo>
                    <a:pt x="0" y="2374392"/>
                  </a:lnTo>
                  <a:lnTo>
                    <a:pt x="768096" y="2374392"/>
                  </a:lnTo>
                  <a:lnTo>
                    <a:pt x="76809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24">
              <a:extLst>
                <a:ext uri="{FF2B5EF4-FFF2-40B4-BE49-F238E27FC236}">
                  <a16:creationId xmlns:a16="http://schemas.microsoft.com/office/drawing/2014/main" id="{575D2012-1BBB-C626-68B7-4B0513C12AB7}"/>
                </a:ext>
              </a:extLst>
            </p:cNvPr>
            <p:cNvSpPr/>
            <p:nvPr/>
          </p:nvSpPr>
          <p:spPr>
            <a:xfrm>
              <a:off x="4540122" y="8149081"/>
              <a:ext cx="12700" cy="1565275"/>
            </a:xfrm>
            <a:custGeom>
              <a:avLst/>
              <a:gdLst/>
              <a:ahLst/>
              <a:cxnLst/>
              <a:rect l="l" t="t" r="r" b="b"/>
              <a:pathLst>
                <a:path w="12700" h="1565275">
                  <a:moveTo>
                    <a:pt x="12191" y="0"/>
                  </a:moveTo>
                  <a:lnTo>
                    <a:pt x="0" y="0"/>
                  </a:lnTo>
                  <a:lnTo>
                    <a:pt x="0" y="1565109"/>
                  </a:lnTo>
                  <a:lnTo>
                    <a:pt x="12191" y="1565109"/>
                  </a:lnTo>
                  <a:lnTo>
                    <a:pt x="121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30">
            <a:extLst>
              <a:ext uri="{FF2B5EF4-FFF2-40B4-BE49-F238E27FC236}">
                <a16:creationId xmlns:a16="http://schemas.microsoft.com/office/drawing/2014/main" id="{F12F44E9-5463-2E1D-8C99-B413699FD481}"/>
              </a:ext>
            </a:extLst>
          </p:cNvPr>
          <p:cNvGrpSpPr/>
          <p:nvPr/>
        </p:nvGrpSpPr>
        <p:grpSpPr>
          <a:xfrm>
            <a:off x="0" y="7530083"/>
            <a:ext cx="707644" cy="2376170"/>
            <a:chOff x="3418332" y="7530083"/>
            <a:chExt cx="768350" cy="237617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98" name="object 31">
              <a:extLst>
                <a:ext uri="{FF2B5EF4-FFF2-40B4-BE49-F238E27FC236}">
                  <a16:creationId xmlns:a16="http://schemas.microsoft.com/office/drawing/2014/main" id="{7F368067-DB8E-EEC2-C145-2BB945EEDF46}"/>
                </a:ext>
              </a:extLst>
            </p:cNvPr>
            <p:cNvSpPr/>
            <p:nvPr/>
          </p:nvSpPr>
          <p:spPr>
            <a:xfrm>
              <a:off x="3418332" y="7530083"/>
              <a:ext cx="768350" cy="2376170"/>
            </a:xfrm>
            <a:custGeom>
              <a:avLst/>
              <a:gdLst/>
              <a:ahLst/>
              <a:cxnLst/>
              <a:rect l="l" t="t" r="r" b="b"/>
              <a:pathLst>
                <a:path w="768350" h="2376170">
                  <a:moveTo>
                    <a:pt x="768096" y="0"/>
                  </a:moveTo>
                  <a:lnTo>
                    <a:pt x="0" y="0"/>
                  </a:lnTo>
                  <a:lnTo>
                    <a:pt x="0" y="2375916"/>
                  </a:lnTo>
                  <a:lnTo>
                    <a:pt x="768096" y="2375916"/>
                  </a:lnTo>
                  <a:lnTo>
                    <a:pt x="76809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32">
              <a:extLst>
                <a:ext uri="{FF2B5EF4-FFF2-40B4-BE49-F238E27FC236}">
                  <a16:creationId xmlns:a16="http://schemas.microsoft.com/office/drawing/2014/main" id="{C7D7375D-86E8-AF7D-D35E-18406587F10B}"/>
                </a:ext>
              </a:extLst>
            </p:cNvPr>
            <p:cNvSpPr/>
            <p:nvPr/>
          </p:nvSpPr>
          <p:spPr>
            <a:xfrm>
              <a:off x="3652774" y="8149081"/>
              <a:ext cx="12700" cy="1565275"/>
            </a:xfrm>
            <a:custGeom>
              <a:avLst/>
              <a:gdLst/>
              <a:ahLst/>
              <a:cxnLst/>
              <a:rect l="l" t="t" r="r" b="b"/>
              <a:pathLst>
                <a:path w="12700" h="1565275">
                  <a:moveTo>
                    <a:pt x="12191" y="0"/>
                  </a:moveTo>
                  <a:lnTo>
                    <a:pt x="0" y="0"/>
                  </a:lnTo>
                  <a:lnTo>
                    <a:pt x="0" y="1565097"/>
                  </a:lnTo>
                  <a:lnTo>
                    <a:pt x="12191" y="1565097"/>
                  </a:lnTo>
                  <a:lnTo>
                    <a:pt x="1219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">
            <a:extLst>
              <a:ext uri="{FF2B5EF4-FFF2-40B4-BE49-F238E27FC236}">
                <a16:creationId xmlns:a16="http://schemas.microsoft.com/office/drawing/2014/main" id="{4DFEA2A5-BA98-131D-B187-7C4531BBDCC2}"/>
              </a:ext>
            </a:extLst>
          </p:cNvPr>
          <p:cNvSpPr txBox="1"/>
          <p:nvPr/>
        </p:nvSpPr>
        <p:spPr>
          <a:xfrm>
            <a:off x="171018" y="7850873"/>
            <a:ext cx="438582" cy="193675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950" b="1" dirty="0">
                <a:solidFill>
                  <a:srgbClr val="4471C4"/>
                </a:solidFill>
                <a:latin typeface="Calibri Light"/>
                <a:cs typeface="Calibri Light"/>
              </a:rPr>
              <a:t>CONTACT</a:t>
            </a:r>
            <a:r>
              <a:rPr sz="950" b="0" spc="1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lang="en-GB" sz="950" b="1" dirty="0">
                <a:latin typeface="Arial"/>
                <a:cs typeface="Arial"/>
              </a:rPr>
              <a:t>Mohammad Shirazi</a:t>
            </a:r>
            <a:endParaRPr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0"/>
              </a:spcBef>
            </a:pPr>
            <a:r>
              <a:rPr sz="950" b="1" dirty="0">
                <a:latin typeface="Calibri"/>
                <a:cs typeface="Calibri"/>
              </a:rPr>
              <a:t>Email:</a:t>
            </a:r>
            <a:r>
              <a:rPr sz="950" b="1" spc="25" dirty="0">
                <a:latin typeface="Calibri"/>
                <a:cs typeface="Calibri"/>
              </a:rPr>
              <a:t> </a:t>
            </a:r>
            <a:r>
              <a:rPr lang="en-GB" sz="950" spc="-10" dirty="0">
                <a:solidFill>
                  <a:srgbClr val="0462C1"/>
                </a:solidFill>
                <a:latin typeface="Arial"/>
                <a:cs typeface="Arial"/>
              </a:rPr>
              <a:t>hossein.shirazi@autuni.ac.nz</a:t>
            </a:r>
            <a:endParaRPr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40"/>
              </a:spcBef>
            </a:pPr>
            <a:r>
              <a:rPr lang="en-GB" sz="950" b="1" dirty="0">
                <a:latin typeface="Calibri"/>
                <a:cs typeface="Calibri"/>
              </a:rPr>
              <a:t>Mobile</a:t>
            </a:r>
            <a:r>
              <a:rPr sz="950" dirty="0">
                <a:latin typeface="Calibri"/>
                <a:cs typeface="Calibri"/>
              </a:rPr>
              <a:t>:</a:t>
            </a:r>
            <a:r>
              <a:rPr lang="en-GB" sz="950" dirty="0">
                <a:latin typeface="Calibri"/>
                <a:cs typeface="Calibri"/>
              </a:rPr>
              <a:t> +64 2902202024 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3AA61-3634-709E-40AA-14A1B0E10525}"/>
              </a:ext>
            </a:extLst>
          </p:cNvPr>
          <p:cNvSpPr txBox="1">
            <a:spLocks/>
          </p:cNvSpPr>
          <p:nvPr/>
        </p:nvSpPr>
        <p:spPr>
          <a:xfrm>
            <a:off x="698499" y="7266710"/>
            <a:ext cx="608330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1"/>
                </a:solidFill>
              </a:rPr>
              <a:t>This research has been approved by AUTEC, Ethics Application No. 26/144</a:t>
            </a: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A67DF147-7E00-391B-FBBF-3494AE2119B7}"/>
              </a:ext>
            </a:extLst>
          </p:cNvPr>
          <p:cNvSpPr txBox="1"/>
          <p:nvPr/>
        </p:nvSpPr>
        <p:spPr>
          <a:xfrm>
            <a:off x="978485" y="7850873"/>
            <a:ext cx="438582" cy="193675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n-NZ" sz="950" b="1" dirty="0">
                <a:solidFill>
                  <a:srgbClr val="4471C4"/>
                </a:solidFill>
                <a:latin typeface="Calibri Light"/>
                <a:cs typeface="Calibri Light"/>
              </a:rPr>
              <a:t>CONTACT</a:t>
            </a:r>
            <a:r>
              <a:rPr lang="en-NZ" sz="950" b="0" spc="1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lang="en-NZ" sz="950" b="1" dirty="0">
                <a:latin typeface="Arial"/>
                <a:cs typeface="Arial"/>
              </a:rPr>
              <a:t>Mohammad Shirazi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0"/>
              </a:spcBef>
            </a:pPr>
            <a:r>
              <a:rPr lang="en-NZ" sz="950" b="1" dirty="0">
                <a:latin typeface="Calibri"/>
                <a:cs typeface="Calibri"/>
              </a:rPr>
              <a:t>Email:</a:t>
            </a:r>
            <a:r>
              <a:rPr lang="en-NZ" sz="950" b="1" spc="25" dirty="0">
                <a:latin typeface="Calibri"/>
                <a:cs typeface="Calibri"/>
              </a:rPr>
              <a:t> </a:t>
            </a:r>
            <a:r>
              <a:rPr lang="en-NZ" sz="950" spc="-10" dirty="0">
                <a:solidFill>
                  <a:srgbClr val="0462C1"/>
                </a:solidFill>
                <a:latin typeface="Arial"/>
                <a:cs typeface="Arial"/>
              </a:rPr>
              <a:t>hossein.shirazi@autuni.ac.nz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40"/>
              </a:spcBef>
            </a:pPr>
            <a:r>
              <a:rPr lang="en-NZ" sz="950" b="1" dirty="0">
                <a:latin typeface="Calibri"/>
                <a:cs typeface="Calibri"/>
              </a:rPr>
              <a:t>Mobile</a:t>
            </a:r>
            <a:r>
              <a:rPr lang="en-NZ" sz="950" dirty="0">
                <a:latin typeface="Calibri"/>
                <a:cs typeface="Calibri"/>
              </a:rPr>
              <a:t>: +64 2902202024 </a:t>
            </a:r>
            <a:endParaRPr lang="en-NZ" sz="950" dirty="0">
              <a:latin typeface="Arial"/>
              <a:cs typeface="Arial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1F432794-C553-E0F2-758A-A2EA815A7800}"/>
              </a:ext>
            </a:extLst>
          </p:cNvPr>
          <p:cNvSpPr txBox="1"/>
          <p:nvPr/>
        </p:nvSpPr>
        <p:spPr>
          <a:xfrm>
            <a:off x="1841284" y="7850873"/>
            <a:ext cx="438582" cy="193675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n-NZ" sz="950" b="1" dirty="0">
                <a:solidFill>
                  <a:srgbClr val="4471C4"/>
                </a:solidFill>
                <a:latin typeface="Calibri Light"/>
                <a:cs typeface="Calibri Light"/>
              </a:rPr>
              <a:t>CONTACT</a:t>
            </a:r>
            <a:r>
              <a:rPr lang="en-NZ" sz="950" b="0" spc="1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lang="en-NZ" sz="950" b="1" dirty="0">
                <a:latin typeface="Arial"/>
                <a:cs typeface="Arial"/>
              </a:rPr>
              <a:t>Mohammad Shirazi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0"/>
              </a:spcBef>
            </a:pPr>
            <a:r>
              <a:rPr lang="en-NZ" sz="950" b="1" dirty="0">
                <a:latin typeface="Calibri"/>
                <a:cs typeface="Calibri"/>
              </a:rPr>
              <a:t>Email:</a:t>
            </a:r>
            <a:r>
              <a:rPr lang="en-NZ" sz="950" b="1" spc="25" dirty="0">
                <a:latin typeface="Calibri"/>
                <a:cs typeface="Calibri"/>
              </a:rPr>
              <a:t> </a:t>
            </a:r>
            <a:r>
              <a:rPr lang="en-NZ" sz="950" spc="-10" dirty="0">
                <a:solidFill>
                  <a:srgbClr val="0462C1"/>
                </a:solidFill>
                <a:latin typeface="Arial"/>
                <a:cs typeface="Arial"/>
              </a:rPr>
              <a:t>hossein.shirazi@autuni.ac.nz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40"/>
              </a:spcBef>
            </a:pPr>
            <a:r>
              <a:rPr lang="en-NZ" sz="950" b="1" dirty="0">
                <a:latin typeface="Calibri"/>
                <a:cs typeface="Calibri"/>
              </a:rPr>
              <a:t>Mobile</a:t>
            </a:r>
            <a:r>
              <a:rPr lang="en-NZ" sz="950" dirty="0">
                <a:latin typeface="Calibri"/>
                <a:cs typeface="Calibri"/>
              </a:rPr>
              <a:t>: +64 2902202024 </a:t>
            </a:r>
            <a:endParaRPr lang="en-NZ" sz="950" dirty="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9CA0D1A8-BD42-53B9-22C2-E9530647B560}"/>
              </a:ext>
            </a:extLst>
          </p:cNvPr>
          <p:cNvSpPr txBox="1"/>
          <p:nvPr/>
        </p:nvSpPr>
        <p:spPr>
          <a:xfrm>
            <a:off x="2725711" y="7852978"/>
            <a:ext cx="438582" cy="193675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n-NZ" sz="950" b="1" dirty="0">
                <a:solidFill>
                  <a:srgbClr val="4471C4"/>
                </a:solidFill>
                <a:latin typeface="Calibri Light"/>
                <a:cs typeface="Calibri Light"/>
              </a:rPr>
              <a:t>CONTACT</a:t>
            </a:r>
            <a:r>
              <a:rPr lang="en-NZ" sz="950" b="0" spc="1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lang="en-NZ" sz="950" b="1" dirty="0">
                <a:latin typeface="Arial"/>
                <a:cs typeface="Arial"/>
              </a:rPr>
              <a:t>Mohammad Shirazi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0"/>
              </a:spcBef>
            </a:pPr>
            <a:r>
              <a:rPr lang="en-NZ" sz="950" b="1" dirty="0">
                <a:latin typeface="Calibri"/>
                <a:cs typeface="Calibri"/>
              </a:rPr>
              <a:t>Email:</a:t>
            </a:r>
            <a:r>
              <a:rPr lang="en-NZ" sz="950" b="1" spc="25" dirty="0">
                <a:latin typeface="Calibri"/>
                <a:cs typeface="Calibri"/>
              </a:rPr>
              <a:t> </a:t>
            </a:r>
            <a:r>
              <a:rPr lang="en-NZ" sz="950" spc="-10" dirty="0">
                <a:solidFill>
                  <a:srgbClr val="0462C1"/>
                </a:solidFill>
                <a:latin typeface="Arial"/>
                <a:cs typeface="Arial"/>
              </a:rPr>
              <a:t>hossein.shirazi@autuni.ac.nz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40"/>
              </a:spcBef>
            </a:pPr>
            <a:r>
              <a:rPr lang="en-NZ" sz="950" b="1" dirty="0">
                <a:latin typeface="Calibri"/>
                <a:cs typeface="Calibri"/>
              </a:rPr>
              <a:t>Mobile</a:t>
            </a:r>
            <a:r>
              <a:rPr lang="en-NZ" sz="950" dirty="0">
                <a:latin typeface="Calibri"/>
                <a:cs typeface="Calibri"/>
              </a:rPr>
              <a:t>: +64 2902202024 </a:t>
            </a:r>
            <a:endParaRPr lang="en-NZ" sz="950" dirty="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AC2CC1FB-5FE7-1C95-9481-98A82E10DF59}"/>
              </a:ext>
            </a:extLst>
          </p:cNvPr>
          <p:cNvSpPr txBox="1"/>
          <p:nvPr/>
        </p:nvSpPr>
        <p:spPr>
          <a:xfrm>
            <a:off x="3576573" y="7850873"/>
            <a:ext cx="438582" cy="193675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n-NZ" sz="950" b="1" dirty="0">
                <a:solidFill>
                  <a:srgbClr val="4471C4"/>
                </a:solidFill>
                <a:latin typeface="Calibri Light"/>
                <a:cs typeface="Calibri Light"/>
              </a:rPr>
              <a:t>CONTACT</a:t>
            </a:r>
            <a:r>
              <a:rPr lang="en-NZ" sz="950" b="0" spc="1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lang="en-NZ" sz="950" b="1" dirty="0">
                <a:latin typeface="Arial"/>
                <a:cs typeface="Arial"/>
              </a:rPr>
              <a:t>Mohammad Shirazi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0"/>
              </a:spcBef>
            </a:pPr>
            <a:r>
              <a:rPr lang="en-NZ" sz="950" b="1" dirty="0">
                <a:latin typeface="Calibri"/>
                <a:cs typeface="Calibri"/>
              </a:rPr>
              <a:t>Email:</a:t>
            </a:r>
            <a:r>
              <a:rPr lang="en-NZ" sz="950" b="1" spc="25" dirty="0">
                <a:latin typeface="Calibri"/>
                <a:cs typeface="Calibri"/>
              </a:rPr>
              <a:t> </a:t>
            </a:r>
            <a:r>
              <a:rPr lang="en-NZ" sz="950" spc="-10" dirty="0">
                <a:solidFill>
                  <a:srgbClr val="0462C1"/>
                </a:solidFill>
                <a:latin typeface="Arial"/>
                <a:cs typeface="Arial"/>
              </a:rPr>
              <a:t>hossein.shirazi@autuni.ac.nz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40"/>
              </a:spcBef>
            </a:pPr>
            <a:r>
              <a:rPr lang="en-NZ" sz="950" b="1" dirty="0">
                <a:latin typeface="Calibri"/>
                <a:cs typeface="Calibri"/>
              </a:rPr>
              <a:t>Mobile</a:t>
            </a:r>
            <a:r>
              <a:rPr lang="en-NZ" sz="950" dirty="0">
                <a:latin typeface="Calibri"/>
                <a:cs typeface="Calibri"/>
              </a:rPr>
              <a:t>: +64 2902202024 </a:t>
            </a:r>
            <a:endParaRPr lang="en-NZ" sz="950" dirty="0">
              <a:latin typeface="Arial"/>
              <a:cs typeface="Arial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9708D0D4-E210-5909-838C-D19B108C7C0C}"/>
              </a:ext>
            </a:extLst>
          </p:cNvPr>
          <p:cNvSpPr txBox="1"/>
          <p:nvPr/>
        </p:nvSpPr>
        <p:spPr>
          <a:xfrm>
            <a:off x="4453476" y="7850873"/>
            <a:ext cx="438582" cy="193675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n-NZ" sz="950" b="1" dirty="0">
                <a:solidFill>
                  <a:srgbClr val="4471C4"/>
                </a:solidFill>
                <a:latin typeface="Calibri Light"/>
                <a:cs typeface="Calibri Light"/>
              </a:rPr>
              <a:t>CONTACT</a:t>
            </a:r>
            <a:r>
              <a:rPr lang="en-NZ" sz="950" b="0" spc="1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lang="en-NZ" sz="950" b="1" dirty="0">
                <a:latin typeface="Arial"/>
                <a:cs typeface="Arial"/>
              </a:rPr>
              <a:t>Mohammad Shirazi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0"/>
              </a:spcBef>
            </a:pPr>
            <a:r>
              <a:rPr lang="en-NZ" sz="950" b="1" dirty="0">
                <a:latin typeface="Calibri"/>
                <a:cs typeface="Calibri"/>
              </a:rPr>
              <a:t>Email:</a:t>
            </a:r>
            <a:r>
              <a:rPr lang="en-NZ" sz="950" b="1" spc="25" dirty="0">
                <a:latin typeface="Calibri"/>
                <a:cs typeface="Calibri"/>
              </a:rPr>
              <a:t> </a:t>
            </a:r>
            <a:r>
              <a:rPr lang="en-NZ" sz="950" spc="-10" dirty="0">
                <a:solidFill>
                  <a:srgbClr val="0462C1"/>
                </a:solidFill>
                <a:latin typeface="Arial"/>
                <a:cs typeface="Arial"/>
              </a:rPr>
              <a:t>hossein.shirazi@autuni.ac.nz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40"/>
              </a:spcBef>
            </a:pPr>
            <a:r>
              <a:rPr lang="en-NZ" sz="950" b="1" dirty="0">
                <a:latin typeface="Calibri"/>
                <a:cs typeface="Calibri"/>
              </a:rPr>
              <a:t>Mobile</a:t>
            </a:r>
            <a:r>
              <a:rPr lang="en-NZ" sz="950" dirty="0">
                <a:latin typeface="Calibri"/>
                <a:cs typeface="Calibri"/>
              </a:rPr>
              <a:t>: +64 2902202024 </a:t>
            </a:r>
            <a:endParaRPr lang="en-NZ" sz="950" dirty="0">
              <a:latin typeface="Arial"/>
              <a:cs typeface="Arial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90EB11ED-ABF0-575B-E49A-5B23FC5E960D}"/>
              </a:ext>
            </a:extLst>
          </p:cNvPr>
          <p:cNvSpPr txBox="1"/>
          <p:nvPr/>
        </p:nvSpPr>
        <p:spPr>
          <a:xfrm>
            <a:off x="5358675" y="7850873"/>
            <a:ext cx="438582" cy="193675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n-NZ" sz="950" b="1" dirty="0">
                <a:solidFill>
                  <a:srgbClr val="4471C4"/>
                </a:solidFill>
                <a:latin typeface="Calibri Light"/>
                <a:cs typeface="Calibri Light"/>
              </a:rPr>
              <a:t>CONTACT</a:t>
            </a:r>
            <a:r>
              <a:rPr lang="en-NZ" sz="950" b="0" spc="1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lang="en-NZ" sz="950" b="1" dirty="0">
                <a:latin typeface="Arial"/>
                <a:cs typeface="Arial"/>
              </a:rPr>
              <a:t>Mohammad Shirazi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0"/>
              </a:spcBef>
            </a:pPr>
            <a:r>
              <a:rPr lang="en-NZ" sz="950" b="1" dirty="0">
                <a:latin typeface="Calibri"/>
                <a:cs typeface="Calibri"/>
              </a:rPr>
              <a:t>Email:</a:t>
            </a:r>
            <a:r>
              <a:rPr lang="en-NZ" sz="950" b="1" spc="25" dirty="0">
                <a:latin typeface="Calibri"/>
                <a:cs typeface="Calibri"/>
              </a:rPr>
              <a:t> </a:t>
            </a:r>
            <a:r>
              <a:rPr lang="en-NZ" sz="950" spc="-10" dirty="0">
                <a:solidFill>
                  <a:srgbClr val="0462C1"/>
                </a:solidFill>
                <a:latin typeface="Arial"/>
                <a:cs typeface="Arial"/>
              </a:rPr>
              <a:t>hossein.shirazi@autuni.ac.nz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40"/>
              </a:spcBef>
            </a:pPr>
            <a:r>
              <a:rPr lang="en-NZ" sz="950" b="1" dirty="0">
                <a:latin typeface="Calibri"/>
                <a:cs typeface="Calibri"/>
              </a:rPr>
              <a:t>Mobile</a:t>
            </a:r>
            <a:r>
              <a:rPr lang="en-NZ" sz="950" dirty="0">
                <a:latin typeface="Calibri"/>
                <a:cs typeface="Calibri"/>
              </a:rPr>
              <a:t>: +64 2902202024</a:t>
            </a:r>
            <a:endParaRPr lang="en-NZ" sz="950" dirty="0">
              <a:latin typeface="Arial"/>
              <a:cs typeface="Arial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F2293F86-8C98-99CF-9C5B-712201724006}"/>
              </a:ext>
            </a:extLst>
          </p:cNvPr>
          <p:cNvSpPr txBox="1"/>
          <p:nvPr/>
        </p:nvSpPr>
        <p:spPr>
          <a:xfrm>
            <a:off x="6247005" y="7850873"/>
            <a:ext cx="438582" cy="193675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n-NZ" sz="950" b="1" dirty="0">
                <a:solidFill>
                  <a:srgbClr val="4471C4"/>
                </a:solidFill>
                <a:latin typeface="Calibri Light"/>
                <a:cs typeface="Calibri Light"/>
              </a:rPr>
              <a:t>CONTACT</a:t>
            </a:r>
            <a:r>
              <a:rPr lang="en-NZ" sz="950" b="0" spc="1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lang="en-NZ" sz="950" b="1" dirty="0">
                <a:latin typeface="Arial"/>
                <a:cs typeface="Arial"/>
              </a:rPr>
              <a:t>Mohammad Shirazi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0"/>
              </a:spcBef>
            </a:pPr>
            <a:r>
              <a:rPr lang="en-NZ" sz="950" b="1" dirty="0">
                <a:latin typeface="Calibri"/>
                <a:cs typeface="Calibri"/>
              </a:rPr>
              <a:t>Email:</a:t>
            </a:r>
            <a:r>
              <a:rPr lang="en-NZ" sz="950" b="1" spc="25" dirty="0">
                <a:latin typeface="Calibri"/>
                <a:cs typeface="Calibri"/>
              </a:rPr>
              <a:t> </a:t>
            </a:r>
            <a:r>
              <a:rPr lang="en-NZ" sz="950" spc="-10" dirty="0">
                <a:solidFill>
                  <a:srgbClr val="0462C1"/>
                </a:solidFill>
                <a:latin typeface="Arial"/>
                <a:cs typeface="Arial"/>
              </a:rPr>
              <a:t>hossein.shirazi@autuni.ac.nz</a:t>
            </a:r>
            <a:endParaRPr lang="en-NZ" sz="9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40"/>
              </a:spcBef>
            </a:pPr>
            <a:r>
              <a:rPr lang="en-NZ" sz="950" b="1" dirty="0">
                <a:latin typeface="Calibri"/>
                <a:cs typeface="Calibri"/>
              </a:rPr>
              <a:t>Mobile</a:t>
            </a:r>
            <a:r>
              <a:rPr lang="en-NZ" sz="950" dirty="0">
                <a:latin typeface="Calibri"/>
                <a:cs typeface="Calibri"/>
              </a:rPr>
              <a:t>: +64 2902202024 </a:t>
            </a:r>
            <a:endParaRPr lang="en-NZ" sz="950" dirty="0">
              <a:latin typeface="Arial"/>
              <a:cs typeface="Arial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BF2C7C-2A7A-CA46-C6C2-C66081DE8AE8}"/>
              </a:ext>
            </a:extLst>
          </p:cNvPr>
          <p:cNvCxnSpPr>
            <a:cxnSpLocks/>
          </p:cNvCxnSpPr>
          <p:nvPr/>
        </p:nvCxnSpPr>
        <p:spPr>
          <a:xfrm>
            <a:off x="757776" y="7530083"/>
            <a:ext cx="0" cy="23759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A8E496-A1F0-E813-776B-6E61DA10C500}"/>
              </a:ext>
            </a:extLst>
          </p:cNvPr>
          <p:cNvCxnSpPr>
            <a:cxnSpLocks/>
          </p:cNvCxnSpPr>
          <p:nvPr/>
        </p:nvCxnSpPr>
        <p:spPr>
          <a:xfrm>
            <a:off x="1619439" y="7530083"/>
            <a:ext cx="0" cy="23759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5A2630-62F9-69E1-2CCE-EABD1DC14562}"/>
              </a:ext>
            </a:extLst>
          </p:cNvPr>
          <p:cNvCxnSpPr>
            <a:cxnSpLocks/>
          </p:cNvCxnSpPr>
          <p:nvPr/>
        </p:nvCxnSpPr>
        <p:spPr>
          <a:xfrm>
            <a:off x="2500025" y="7530083"/>
            <a:ext cx="0" cy="23759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6CCCD5-2049-D090-0E77-D6BDB5AAF9DC}"/>
              </a:ext>
            </a:extLst>
          </p:cNvPr>
          <p:cNvCxnSpPr>
            <a:cxnSpLocks/>
          </p:cNvCxnSpPr>
          <p:nvPr/>
        </p:nvCxnSpPr>
        <p:spPr>
          <a:xfrm>
            <a:off x="3336093" y="7530083"/>
            <a:ext cx="0" cy="23759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A1CE17-F940-1803-0B21-3B18F6DAB8D7}"/>
              </a:ext>
            </a:extLst>
          </p:cNvPr>
          <p:cNvCxnSpPr>
            <a:cxnSpLocks/>
          </p:cNvCxnSpPr>
          <p:nvPr/>
        </p:nvCxnSpPr>
        <p:spPr>
          <a:xfrm>
            <a:off x="4240558" y="7530083"/>
            <a:ext cx="0" cy="23759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85BDC5-7934-2802-3D66-2A69996F3CB9}"/>
              </a:ext>
            </a:extLst>
          </p:cNvPr>
          <p:cNvCxnSpPr>
            <a:cxnSpLocks/>
          </p:cNvCxnSpPr>
          <p:nvPr/>
        </p:nvCxnSpPr>
        <p:spPr>
          <a:xfrm flipH="1">
            <a:off x="5126166" y="7530083"/>
            <a:ext cx="9675" cy="23759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60E1515-FA1C-5C61-A7F7-CF2270022693}"/>
              </a:ext>
            </a:extLst>
          </p:cNvPr>
          <p:cNvCxnSpPr>
            <a:cxnSpLocks/>
          </p:cNvCxnSpPr>
          <p:nvPr/>
        </p:nvCxnSpPr>
        <p:spPr>
          <a:xfrm flipH="1">
            <a:off x="6009735" y="7530083"/>
            <a:ext cx="9675" cy="23759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BFAD1D6C-57CA-2F7C-81E7-4C62EF39ED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4" y="2329619"/>
            <a:ext cx="2691386" cy="20815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7B23F4-A401-5ED3-CB07-2DC7C9DA5E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684" y="5446931"/>
            <a:ext cx="1792069" cy="17920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AEBC53-F642-9861-A5D7-CBE6CCB425A3}"/>
              </a:ext>
            </a:extLst>
          </p:cNvPr>
          <p:cNvSpPr txBox="1"/>
          <p:nvPr/>
        </p:nvSpPr>
        <p:spPr>
          <a:xfrm>
            <a:off x="53387" y="6858000"/>
            <a:ext cx="506420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b="1" dirty="0"/>
              <a:t>Eligibility</a:t>
            </a:r>
            <a:r>
              <a:rPr lang="en-NZ" sz="1050" dirty="0"/>
              <a:t>: Healthy adults aged 18+ who can safely perform everyday movements</a:t>
            </a:r>
          </a:p>
        </p:txBody>
      </p:sp>
    </p:spTree>
    <p:extLst>
      <p:ext uri="{BB962C8B-B14F-4D97-AF65-F5344CB8AC3E}">
        <p14:creationId xmlns:p14="http://schemas.microsoft.com/office/powerpoint/2010/main" val="973974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</TotalTime>
  <Words>297</Words>
  <Application>Microsoft Office PowerPoint</Application>
  <PresentationFormat>A4 Paper (210x297 mm)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Participants needed to help us advance AI models for smart human sensing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HEALTHY PARTICIPANTS NEEDED</dc:title>
  <dc:creator>Lauren Bellamy</dc:creator>
  <cp:lastModifiedBy>Sira Yongchareon</cp:lastModifiedBy>
  <cp:revision>49</cp:revision>
  <dcterms:created xsi:type="dcterms:W3CDTF">2023-05-31T23:27:49Z</dcterms:created>
  <dcterms:modified xsi:type="dcterms:W3CDTF">2026-09-22T01:18:58Z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2023-05-31T00:00:00Z</vt:filetime>
  </property>
  <property fmtid="{D5CDD505-2E9C-101B-9397-08002B2CF9AE}" pid="5" name="Producer">
    <vt:lpwstr>Microsoft® PowerPoint® for Office 365</vt:lpwstr>
  </property>
</Properties>
</file>